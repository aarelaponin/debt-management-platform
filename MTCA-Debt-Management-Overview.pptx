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Debt €m</c:v>
                </c:pt>
              </c:strCache>
            </c:strRef>
          </c:tx>
          <c:spPr>
            <a:solidFill>
              <a:srgbClr val="2E6F9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C1</c:v>
                  </c:pt>
                  <c:pt idx="1">
                    <c:v>C2</c:v>
                  </c:pt>
                  <c:pt idx="2">
                    <c:v>C3</c:v>
                  </c:pt>
                  <c:pt idx="3">
                    <c:v>C4</c:v>
                  </c:pt>
                  <c:pt idx="4">
                    <c:v>C5</c:v>
                  </c:pt>
                  <c:pt idx="5">
                    <c:v>C6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0.12</c:v>
                </c:pt>
                <c:pt idx="1">
                  <c:v>0.38</c:v>
                </c:pt>
                <c:pt idx="2">
                  <c:v>0.9</c:v>
                </c:pt>
                <c:pt idx="3">
                  <c:v>1.82</c:v>
                </c:pt>
                <c:pt idx="4">
                  <c:v>3.14</c:v>
                </c:pt>
                <c:pt idx="5">
                  <c:v>5.27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D7E2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Agreements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F855A"/>
              </a:solidFill>
              <a:effectLst/>
            </c:spPr>
          </c:dPt>
          <c:dPt>
            <c:idx val="1"/>
            <c:bubble3D val="0"/>
            <c:spPr>
              <a:solidFill>
                <a:srgbClr val="2E6F95"/>
              </a:solidFill>
              <a:effectLst/>
            </c:spPr>
          </c:dPt>
          <c:dPt>
            <c:idx val="2"/>
            <c:bubble3D val="0"/>
            <c:spPr>
              <a:solidFill>
                <a:srgbClr val="D99A2B"/>
              </a:solidFill>
              <a:effectLst/>
            </c:spPr>
          </c:dPt>
          <c:dPt>
            <c:idx val="3"/>
            <c:bubble3D val="0"/>
            <c:spPr>
              <a:solidFill>
                <a:srgbClr val="C0532E"/>
              </a:solidFill>
              <a:effectLst/>
            </c:spPr>
          </c:dPt>
          <c:dPt>
            <c:idx val="4"/>
            <c:bubble3D val="0"/>
            <c:spPr>
              <a:solidFill>
                <a:srgbClr val="8A98A6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Active</c:v>
                </c:pt>
                <c:pt idx="1">
                  <c:v>Completed</c:v>
                </c:pt>
                <c:pt idx="2">
                  <c:v>Cancelled</c:v>
                </c:pt>
                <c:pt idx="3">
                  <c:v>Rejected</c:v>
                </c:pt>
                <c:pt idx="4">
                  <c:v>Defaulted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91</c:v>
                </c:pt>
                <c:pt idx="1">
                  <c:v>40</c:v>
                </c:pt>
                <c:pt idx="2">
                  <c:v>59</c:v>
                </c:pt>
                <c:pt idx="3">
                  <c:v>26</c:v>
                </c:pt>
                <c:pt idx="4">
                  <c:v>10</c:v>
                </c:pt>
              </c:numCache>
            </c:numRef>
          </c:val>
        </c:ser>
        <c:firstSliceAng val="0"/>
        <c:holeSize val="58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100">
              <a:solidFill>
                <a:srgbClr val="1C2733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9A2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9FC0DC"/>
                </a:solidFill>
              </a:rPr>
              <a:t>MALTA TAX &amp; CUSTOMS ADMINISTRATION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Debt Management System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640080" y="27889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D99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Solution Overview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379476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CADCFC"/>
                </a:solidFill>
              </a:rPr>
              <a:t>A quick-win automation initiative delivering operational value now —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CADCFC"/>
                </a:solidFill>
              </a:rPr>
              <a:t>architecturally aligned with the future ITCAS platform.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6217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A6C6"/>
                </a:solidFill>
              </a:rPr>
              <a:t>MTCA Digital Transformation Programme (DTP) 2026–2030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6F95"/>
                </a:solidFill>
              </a:rPr>
              <a:t>WHY NOW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Turning tax arrears into recovered revenue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84048" cy="384048"/>
          </a:xfrm>
          <a:prstGeom prst="ellipse">
            <a:avLst/>
          </a:prstGeom>
          <a:solidFill>
            <a:srgbClr val="2E6F95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207008" y="1773936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3"/>
                </a:solidFill>
              </a:rPr>
              <a:t>Debt managed manually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07008" y="210312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Officers chase arrears case-by-case with little automation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880360"/>
            <a:ext cx="384048" cy="384048"/>
          </a:xfrm>
          <a:prstGeom prst="ellipse">
            <a:avLst/>
          </a:prstGeom>
          <a:solidFill>
            <a:srgbClr val="2E6F95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880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207008" y="2825496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3"/>
                </a:solidFill>
              </a:rPr>
              <a:t>No single view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07008" y="315468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No consolidated, real-time picture of the debt portfolio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931920"/>
            <a:ext cx="384048" cy="384048"/>
          </a:xfrm>
          <a:prstGeom prst="ellipse">
            <a:avLst/>
          </a:prstGeom>
          <a:solidFill>
            <a:srgbClr val="2E6F95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931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207008" y="3877056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3"/>
                </a:solidFill>
              </a:rPr>
              <a:t>Effort, not impact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07008" y="42062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Scarce staff time spent on routine steps, not high-value recovery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223760" y="1828800"/>
            <a:ext cx="429768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2EC"/>
            </a:solidFill>
            <a:prstDash val="solid"/>
          </a:ln>
          <a:effectLst>
            <a:outerShdw sx="100000" sy="100000" kx="0" ky="0" algn="bl" rotWithShape="0" blurRad="88900" dist="38100" dir="8100000">
              <a:srgbClr val="0F2A43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223760" y="1828800"/>
            <a:ext cx="4297680" cy="109728"/>
          </a:xfrm>
          <a:prstGeom prst="rect">
            <a:avLst/>
          </a:prstGeom>
          <a:solidFill>
            <a:srgbClr val="D99A2B"/>
          </a:solidFill>
          <a:ln/>
        </p:spPr>
      </p:sp>
      <p:sp>
        <p:nvSpPr>
          <p:cNvPr id="18" name="Text 16"/>
          <p:cNvSpPr/>
          <p:nvPr/>
        </p:nvSpPr>
        <p:spPr>
          <a:xfrm>
            <a:off x="7498080" y="21031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6F95"/>
                </a:solidFill>
              </a:rPr>
              <a:t>TARGET OUTCOME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498080" y="242316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0F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8–10</a:t>
            </a:r>
            <a:endParaRPr lang="en-US" sz="7200" dirty="0"/>
          </a:p>
        </p:txBody>
      </p:sp>
      <p:sp>
        <p:nvSpPr>
          <p:cNvPr id="20" name="Text 18"/>
          <p:cNvSpPr/>
          <p:nvPr/>
        </p:nvSpPr>
        <p:spPr>
          <a:xfrm>
            <a:off x="7498080" y="342900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733"/>
                </a:solidFill>
              </a:rPr>
              <a:t>FTE liberated from debt management by Q3 2026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498080" y="397764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4748B"/>
                </a:solidFill>
              </a:rPr>
              <a:t>Part of the DTP's ~50 FTE Year-1 savings target — reinvested into higher-value recovery work.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Malta Tax &amp; Customs Administration · Debt Management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15568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6F95"/>
                </a:solidFill>
              </a:rPr>
              <a:t>WHAT IT DOES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case, managed end to end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205740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2EC"/>
            </a:solidFill>
            <a:prstDash val="solid"/>
          </a:ln>
          <a:effectLst>
            <a:outerShdw sx="100000" sy="100000" kx="0" ky="0" algn="bl" rotWithShape="0" blurRad="88900" dist="38100" dir="8100000">
              <a:srgbClr val="0F2A43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2286000"/>
            <a:ext cx="2057400" cy="109728"/>
          </a:xfrm>
          <a:prstGeom prst="rect">
            <a:avLst/>
          </a:prstGeom>
          <a:solidFill>
            <a:srgbClr val="2E6F95"/>
          </a:solidFill>
          <a:ln/>
        </p:spPr>
      </p:sp>
      <p:sp>
        <p:nvSpPr>
          <p:cNvPr id="6" name="Shape 4"/>
          <p:cNvSpPr/>
          <p:nvPr/>
        </p:nvSpPr>
        <p:spPr>
          <a:xfrm>
            <a:off x="1367028" y="2578608"/>
            <a:ext cx="603504" cy="603504"/>
          </a:xfrm>
          <a:prstGeom prst="ellipse">
            <a:avLst/>
          </a:prstGeom>
          <a:solidFill>
            <a:srgbClr val="0F2A43"/>
          </a:solidFill>
          <a:ln/>
        </p:spPr>
      </p:sp>
      <p:sp>
        <p:nvSpPr>
          <p:cNvPr id="7" name="Text 5"/>
          <p:cNvSpPr/>
          <p:nvPr/>
        </p:nvSpPr>
        <p:spPr>
          <a:xfrm>
            <a:off x="1367028" y="257860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327355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A43"/>
                </a:solidFill>
              </a:rPr>
              <a:t>Identify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04672" y="3611880"/>
            <a:ext cx="17282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4748B"/>
                </a:solidFill>
              </a:rPr>
              <a:t>Debtors detected automatically from taxpayer data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662047" y="315468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99A2B"/>
                </a:solidFill>
              </a:rPr>
              <a:t>›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2846070" y="2286000"/>
            <a:ext cx="205740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2EC"/>
            </a:solidFill>
            <a:prstDash val="solid"/>
          </a:ln>
          <a:effectLst>
            <a:outerShdw sx="100000" sy="100000" kx="0" ky="0" algn="bl" rotWithShape="0" blurRad="88900" dist="38100" dir="8100000">
              <a:srgbClr val="0F2A43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846070" y="2286000"/>
            <a:ext cx="2057400" cy="109728"/>
          </a:xfrm>
          <a:prstGeom prst="rect">
            <a:avLst/>
          </a:prstGeom>
          <a:solidFill>
            <a:srgbClr val="2E6F95"/>
          </a:solidFill>
          <a:ln/>
        </p:spPr>
      </p:sp>
      <p:sp>
        <p:nvSpPr>
          <p:cNvPr id="13" name="Shape 11"/>
          <p:cNvSpPr/>
          <p:nvPr/>
        </p:nvSpPr>
        <p:spPr>
          <a:xfrm>
            <a:off x="3573018" y="2578608"/>
            <a:ext cx="603504" cy="603504"/>
          </a:xfrm>
          <a:prstGeom prst="ellipse">
            <a:avLst/>
          </a:prstGeom>
          <a:solidFill>
            <a:srgbClr val="0F2A43"/>
          </a:solidFill>
          <a:ln/>
        </p:spPr>
      </p:sp>
      <p:sp>
        <p:nvSpPr>
          <p:cNvPr id="14" name="Text 12"/>
          <p:cNvSpPr/>
          <p:nvPr/>
        </p:nvSpPr>
        <p:spPr>
          <a:xfrm>
            <a:off x="3573018" y="257860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937510" y="327355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A43"/>
                </a:solidFill>
              </a:rPr>
              <a:t>Pre-enforce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010662" y="3611880"/>
            <a:ext cx="17282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4748B"/>
                </a:solidFill>
              </a:rPr>
              <a:t>Reminders &amp; demand notices on an escalation ladder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68037" y="315468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99A2B"/>
                </a:solidFill>
              </a:rPr>
              <a:t>›</a:t>
            </a:r>
            <a:endParaRPr lang="en-US" sz="3000" dirty="0"/>
          </a:p>
        </p:txBody>
      </p:sp>
      <p:sp>
        <p:nvSpPr>
          <p:cNvPr id="18" name="Shape 16"/>
          <p:cNvSpPr/>
          <p:nvPr/>
        </p:nvSpPr>
        <p:spPr>
          <a:xfrm>
            <a:off x="5052060" y="2286000"/>
            <a:ext cx="205740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2EC"/>
            </a:solidFill>
            <a:prstDash val="solid"/>
          </a:ln>
          <a:effectLst>
            <a:outerShdw sx="100000" sy="100000" kx="0" ky="0" algn="bl" rotWithShape="0" blurRad="88900" dist="38100" dir="8100000">
              <a:srgbClr val="0F2A43">
                <a:alpha val="13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052060" y="2286000"/>
            <a:ext cx="2057400" cy="109728"/>
          </a:xfrm>
          <a:prstGeom prst="rect">
            <a:avLst/>
          </a:prstGeom>
          <a:solidFill>
            <a:srgbClr val="2E6F95"/>
          </a:solidFill>
          <a:ln/>
        </p:spPr>
      </p:sp>
      <p:sp>
        <p:nvSpPr>
          <p:cNvPr id="20" name="Shape 18"/>
          <p:cNvSpPr/>
          <p:nvPr/>
        </p:nvSpPr>
        <p:spPr>
          <a:xfrm>
            <a:off x="5779008" y="2578608"/>
            <a:ext cx="603504" cy="603504"/>
          </a:xfrm>
          <a:prstGeom prst="ellipse">
            <a:avLst/>
          </a:prstGeom>
          <a:solidFill>
            <a:srgbClr val="0F2A43"/>
          </a:solidFill>
          <a:ln/>
        </p:spPr>
      </p:sp>
      <p:sp>
        <p:nvSpPr>
          <p:cNvPr id="21" name="Text 19"/>
          <p:cNvSpPr/>
          <p:nvPr/>
        </p:nvSpPr>
        <p:spPr>
          <a:xfrm>
            <a:off x="5779008" y="257860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143500" y="327355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A43"/>
                </a:solidFill>
              </a:rPr>
              <a:t>Enforce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216652" y="3611880"/>
            <a:ext cx="17282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4748B"/>
                </a:solidFill>
              </a:rPr>
              <a:t>Proportional enforcement when debt persists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074027" y="315468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99A2B"/>
                </a:solidFill>
              </a:rPr>
              <a:t>›</a:t>
            </a:r>
            <a:endParaRPr lang="en-US" sz="3000" dirty="0"/>
          </a:p>
        </p:txBody>
      </p:sp>
      <p:sp>
        <p:nvSpPr>
          <p:cNvPr id="25" name="Shape 23"/>
          <p:cNvSpPr/>
          <p:nvPr/>
        </p:nvSpPr>
        <p:spPr>
          <a:xfrm>
            <a:off x="7258050" y="2286000"/>
            <a:ext cx="205740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2EC"/>
            </a:solidFill>
            <a:prstDash val="solid"/>
          </a:ln>
          <a:effectLst>
            <a:outerShdw sx="100000" sy="100000" kx="0" ky="0" algn="bl" rotWithShape="0" blurRad="88900" dist="38100" dir="8100000">
              <a:srgbClr val="0F2A43">
                <a:alpha val="13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258050" y="2286000"/>
            <a:ext cx="2057400" cy="109728"/>
          </a:xfrm>
          <a:prstGeom prst="rect">
            <a:avLst/>
          </a:prstGeom>
          <a:solidFill>
            <a:srgbClr val="2E6F95"/>
          </a:solidFill>
          <a:ln/>
        </p:spPr>
      </p:sp>
      <p:sp>
        <p:nvSpPr>
          <p:cNvPr id="27" name="Shape 25"/>
          <p:cNvSpPr/>
          <p:nvPr/>
        </p:nvSpPr>
        <p:spPr>
          <a:xfrm>
            <a:off x="7984998" y="2578608"/>
            <a:ext cx="603504" cy="603504"/>
          </a:xfrm>
          <a:prstGeom prst="ellipse">
            <a:avLst/>
          </a:prstGeom>
          <a:solidFill>
            <a:srgbClr val="0F2A43"/>
          </a:solidFill>
          <a:ln/>
        </p:spPr>
      </p:sp>
      <p:sp>
        <p:nvSpPr>
          <p:cNvPr id="28" name="Text 26"/>
          <p:cNvSpPr/>
          <p:nvPr/>
        </p:nvSpPr>
        <p:spPr>
          <a:xfrm>
            <a:off x="7984998" y="257860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349490" y="327355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A43"/>
                </a:solidFill>
              </a:rPr>
              <a:t>Resolve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422642" y="3611880"/>
            <a:ext cx="17282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4748B"/>
                </a:solidFill>
              </a:rPr>
              <a:t>Instalment agreements, monitored for compliance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280017" y="315468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99A2B"/>
                </a:solidFill>
              </a:rPr>
              <a:t>›</a:t>
            </a:r>
            <a:endParaRPr lang="en-US" sz="3000" dirty="0"/>
          </a:p>
        </p:txBody>
      </p:sp>
      <p:sp>
        <p:nvSpPr>
          <p:cNvPr id="32" name="Shape 30"/>
          <p:cNvSpPr/>
          <p:nvPr/>
        </p:nvSpPr>
        <p:spPr>
          <a:xfrm>
            <a:off x="9464040" y="2286000"/>
            <a:ext cx="205740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2EC"/>
            </a:solidFill>
            <a:prstDash val="solid"/>
          </a:ln>
          <a:effectLst>
            <a:outerShdw sx="100000" sy="100000" kx="0" ky="0" algn="bl" rotWithShape="0" blurRad="88900" dist="38100" dir="8100000">
              <a:srgbClr val="0F2A43">
                <a:alpha val="13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9464040" y="2286000"/>
            <a:ext cx="2057400" cy="109728"/>
          </a:xfrm>
          <a:prstGeom prst="rect">
            <a:avLst/>
          </a:prstGeom>
          <a:solidFill>
            <a:srgbClr val="2F855A"/>
          </a:solidFill>
          <a:ln/>
        </p:spPr>
      </p:sp>
      <p:sp>
        <p:nvSpPr>
          <p:cNvPr id="34" name="Shape 32"/>
          <p:cNvSpPr/>
          <p:nvPr/>
        </p:nvSpPr>
        <p:spPr>
          <a:xfrm>
            <a:off x="10190988" y="2578608"/>
            <a:ext cx="603504" cy="603504"/>
          </a:xfrm>
          <a:prstGeom prst="ellipse">
            <a:avLst/>
          </a:prstGeom>
          <a:solidFill>
            <a:srgbClr val="0F2A43"/>
          </a:solidFill>
          <a:ln/>
        </p:spPr>
      </p:sp>
      <p:sp>
        <p:nvSpPr>
          <p:cNvPr id="35" name="Text 33"/>
          <p:cNvSpPr/>
          <p:nvPr/>
        </p:nvSpPr>
        <p:spPr>
          <a:xfrm>
            <a:off x="10190988" y="257860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9555480" y="327355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A43"/>
                </a:solidFill>
              </a:rPr>
              <a:t>Close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9628632" y="3611880"/>
            <a:ext cx="17282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4748B"/>
                </a:solidFill>
              </a:rPr>
              <a:t>Recovery, or write-off under approval controls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40080" y="51206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2E6F95"/>
                </a:solidFill>
              </a:rPr>
              <a:t>Risk-based and proportional throughout — small debts are handled cheaply and automatically; large debts get full enforcement.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Malta Tax &amp; Customs Administration · Debt Management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115568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6F95"/>
                </a:solidFill>
              </a:rPr>
              <a:t>THE CONSOLE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Organised around what people do — not configuration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52578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2EC"/>
            </a:solidFill>
            <a:prstDash val="solid"/>
          </a:ln>
          <a:effectLst>
            <a:outerShdw sx="100000" sy="100000" kx="0" ky="0" algn="bl" rotWithShape="0" blurRad="88900" dist="38100" dir="8100000">
              <a:srgbClr val="0F2A43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2194560"/>
            <a:ext cx="128016" cy="1783080"/>
          </a:xfrm>
          <a:prstGeom prst="rect">
            <a:avLst/>
          </a:prstGeom>
          <a:solidFill>
            <a:srgbClr val="2E6F95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450592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Dashboards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005840" y="2971800"/>
            <a:ext cx="4617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C2733"/>
                </a:solidFill>
              </a:rPr>
              <a:t>At-a-glance view of the debt portfolio: stock, ageing, recovery and compliance.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63640" y="2194560"/>
            <a:ext cx="52578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2EC"/>
            </a:solidFill>
            <a:prstDash val="solid"/>
          </a:ln>
          <a:effectLst>
            <a:outerShdw sx="100000" sy="100000" kx="0" ky="0" algn="bl" rotWithShape="0" blurRad="88900" dist="38100" dir="8100000">
              <a:srgbClr val="0F2A43">
                <a:alpha val="1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63640" y="2194560"/>
            <a:ext cx="128016" cy="1783080"/>
          </a:xfrm>
          <a:prstGeom prst="rect">
            <a:avLst/>
          </a:prstGeom>
          <a:solidFill>
            <a:srgbClr val="0F2A43"/>
          </a:solidFill>
          <a:ln/>
        </p:spPr>
      </p:sp>
      <p:sp>
        <p:nvSpPr>
          <p:cNvPr id="10" name="Text 8"/>
          <p:cNvSpPr/>
          <p:nvPr/>
        </p:nvSpPr>
        <p:spPr>
          <a:xfrm>
            <a:off x="6629400" y="2450592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Operations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6629400" y="2971800"/>
            <a:ext cx="4617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C2733"/>
                </a:solidFill>
              </a:rPr>
              <a:t>The day-to-day case work — cases, enforcement, instalments, write-offs, debtor lists, reports.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4297680"/>
            <a:ext cx="52578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2EC"/>
            </a:solidFill>
            <a:prstDash val="solid"/>
          </a:ln>
          <a:effectLst>
            <a:outerShdw sx="100000" sy="100000" kx="0" ky="0" algn="bl" rotWithShape="0" blurRad="88900" dist="38100" dir="8100000">
              <a:srgbClr val="0F2A43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0080" y="4297680"/>
            <a:ext cx="128016" cy="1783080"/>
          </a:xfrm>
          <a:prstGeom prst="rect">
            <a:avLst/>
          </a:prstGeom>
          <a:solidFill>
            <a:srgbClr val="D99A2B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4553712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Automation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1005840" y="5074920"/>
            <a:ext cx="4617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C2733"/>
                </a:solidFill>
              </a:rPr>
              <a:t>The routine work the system runs for you — identification and enforcement sweeps.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263640" y="4297680"/>
            <a:ext cx="52578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2EC"/>
            </a:solidFill>
            <a:prstDash val="solid"/>
          </a:ln>
          <a:effectLst>
            <a:outerShdw sx="100000" sy="100000" kx="0" ky="0" algn="bl" rotWithShape="0" blurRad="88900" dist="38100" dir="8100000">
              <a:srgbClr val="0F2A43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63640" y="4297680"/>
            <a:ext cx="128016" cy="178308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8" name="Text 16"/>
          <p:cNvSpPr/>
          <p:nvPr/>
        </p:nvSpPr>
        <p:spPr>
          <a:xfrm>
            <a:off x="6629400" y="4553712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Admin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6629400" y="5074920"/>
            <a:ext cx="4617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C2733"/>
                </a:solidFill>
              </a:rPr>
              <a:t>Rules, rates, templates and reference data — adjustable without code.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Malta Tax &amp; Customs Administration · Debt Management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15568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6F95"/>
                </a:solidFill>
              </a:rPr>
              <a:t>DASHBOARDS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See the whole portfolio on one page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6F95"/>
                </a:solidFill>
              </a:rPr>
              <a:t>Debt stock by category (€m)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40080" y="2057400"/>
          <a:ext cx="521208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6400800" y="17830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6F95"/>
                </a:solidFill>
              </a:rPr>
              <a:t>Instalment compliance</a:t>
            </a:r>
            <a:endParaRPr lang="en-US" sz="1300" dirty="0"/>
          </a:p>
        </p:txBody>
      </p:sp>
      <p:graphicFrame>
        <p:nvGraphicFramePr>
          <p:cNvPr id="7" name="Chart 1" descr=""/>
          <p:cNvGraphicFramePr/>
          <p:nvPr/>
        </p:nvGraphicFramePr>
        <p:xfrm>
          <a:off x="6126480" y="2057400"/>
          <a:ext cx="539496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 4"/>
          <p:cNvSpPr/>
          <p:nvPr/>
        </p:nvSpPr>
        <p:spPr>
          <a:xfrm>
            <a:off x="640080" y="49834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i="1" dirty="0">
                <a:solidFill>
                  <a:srgbClr val="64748B"/>
                </a:solidFill>
              </a:rPr>
              <a:t>One page: debt by category &amp; ageing, recovery by enforcement action, and instalment compliance — alongside the 12 arrears-management KPIs.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Malta Tax &amp; Customs Administration · Debt Management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15568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6F95"/>
                </a:solidFill>
              </a:rPr>
              <a:t>OPERATIONS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officers do every day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33832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2EC"/>
            </a:solidFill>
            <a:prstDash val="solid"/>
          </a:ln>
          <a:effectLst>
            <a:outerShdw sx="100000" sy="100000" kx="0" ky="0" algn="bl" rotWithShape="0" blurRad="88900" dist="38100" dir="8100000">
              <a:srgbClr val="0F2A43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2359152"/>
            <a:ext cx="457200" cy="457200"/>
          </a:xfrm>
          <a:prstGeom prst="ellipse">
            <a:avLst/>
          </a:prstGeom>
          <a:solidFill>
            <a:srgbClr val="2E6F95"/>
          </a:solidFill>
          <a:ln/>
        </p:spPr>
      </p:sp>
      <p:sp>
        <p:nvSpPr>
          <p:cNvPr id="6" name="Text 4"/>
          <p:cNvSpPr/>
          <p:nvPr/>
        </p:nvSpPr>
        <p:spPr>
          <a:xfrm>
            <a:off x="896112" y="23591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481328" y="23774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3"/>
                </a:solidFill>
              </a:rPr>
              <a:t>Debt cases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2889504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4748B"/>
                </a:solidFill>
              </a:rPr>
              <a:t>A single case file per debtor — balances, history, status and next action.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89120" y="2103120"/>
            <a:ext cx="33832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2EC"/>
            </a:solidFill>
            <a:prstDash val="solid"/>
          </a:ln>
          <a:effectLst>
            <a:outerShdw sx="100000" sy="100000" kx="0" ky="0" algn="bl" rotWithShape="0" blurRad="88900" dist="38100" dir="8100000">
              <a:srgbClr val="0F2A43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45152" y="2359152"/>
            <a:ext cx="457200" cy="457200"/>
          </a:xfrm>
          <a:prstGeom prst="ellipse">
            <a:avLst/>
          </a:prstGeom>
          <a:solidFill>
            <a:srgbClr val="2E6F95"/>
          </a:solidFill>
          <a:ln/>
        </p:spPr>
      </p:sp>
      <p:sp>
        <p:nvSpPr>
          <p:cNvPr id="11" name="Text 9"/>
          <p:cNvSpPr/>
          <p:nvPr/>
        </p:nvSpPr>
        <p:spPr>
          <a:xfrm>
            <a:off x="4645152" y="23591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230368" y="23774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3"/>
                </a:solidFill>
              </a:rPr>
              <a:t>Enforcement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63440" y="2889504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4748B"/>
                </a:solidFill>
              </a:rPr>
              <a:t>Bank garnishment, property seizure, collection agents, debtor publication, charges.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38160" y="2103120"/>
            <a:ext cx="33832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2EC"/>
            </a:solidFill>
            <a:prstDash val="solid"/>
          </a:ln>
          <a:effectLst>
            <a:outerShdw sx="100000" sy="100000" kx="0" ky="0" algn="bl" rotWithShape="0" blurRad="88900" dist="38100" dir="8100000">
              <a:srgbClr val="0F2A43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94192" y="2359152"/>
            <a:ext cx="457200" cy="457200"/>
          </a:xfrm>
          <a:prstGeom prst="ellipse">
            <a:avLst/>
          </a:prstGeom>
          <a:solidFill>
            <a:srgbClr val="2E6F95"/>
          </a:solidFill>
          <a:ln/>
        </p:spPr>
      </p:sp>
      <p:sp>
        <p:nvSpPr>
          <p:cNvPr id="16" name="Text 14"/>
          <p:cNvSpPr/>
          <p:nvPr/>
        </p:nvSpPr>
        <p:spPr>
          <a:xfrm>
            <a:off x="8394192" y="23591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979408" y="23774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3"/>
                </a:solidFill>
              </a:rPr>
              <a:t>Instalments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412480" y="2889504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4748B"/>
                </a:solidFill>
              </a:rPr>
              <a:t>Negotiated payment plans with automatic compliance monitoring.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4114800"/>
            <a:ext cx="33832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2EC"/>
            </a:solidFill>
            <a:prstDash val="solid"/>
          </a:ln>
          <a:effectLst>
            <a:outerShdw sx="100000" sy="100000" kx="0" ky="0" algn="bl" rotWithShape="0" blurRad="88900" dist="38100" dir="8100000">
              <a:srgbClr val="0F2A43">
                <a:alpha val="13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96112" y="4370832"/>
            <a:ext cx="457200" cy="457200"/>
          </a:xfrm>
          <a:prstGeom prst="ellipse">
            <a:avLst/>
          </a:prstGeom>
          <a:solidFill>
            <a:srgbClr val="2E6F95"/>
          </a:solidFill>
          <a:ln/>
        </p:spPr>
      </p:sp>
      <p:sp>
        <p:nvSpPr>
          <p:cNvPr id="21" name="Text 19"/>
          <p:cNvSpPr/>
          <p:nvPr/>
        </p:nvSpPr>
        <p:spPr>
          <a:xfrm>
            <a:off x="896112" y="4370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481328" y="43891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3"/>
                </a:solidFill>
              </a:rPr>
              <a:t>Write-offs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14400" y="4901184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4748B"/>
                </a:solidFill>
              </a:rPr>
              <a:t>Time-barred or uncollectible debt, cleared under approval delegation.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389120" y="4114800"/>
            <a:ext cx="33832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2EC"/>
            </a:solidFill>
            <a:prstDash val="solid"/>
          </a:ln>
          <a:effectLst>
            <a:outerShdw sx="100000" sy="100000" kx="0" ky="0" algn="bl" rotWithShape="0" blurRad="88900" dist="38100" dir="8100000">
              <a:srgbClr val="0F2A43">
                <a:alpha val="13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45152" y="4370832"/>
            <a:ext cx="457200" cy="457200"/>
          </a:xfrm>
          <a:prstGeom prst="ellipse">
            <a:avLst/>
          </a:prstGeom>
          <a:solidFill>
            <a:srgbClr val="2E6F95"/>
          </a:solidFill>
          <a:ln/>
        </p:spPr>
      </p:sp>
      <p:sp>
        <p:nvSpPr>
          <p:cNvPr id="26" name="Text 24"/>
          <p:cNvSpPr/>
          <p:nvPr/>
        </p:nvSpPr>
        <p:spPr>
          <a:xfrm>
            <a:off x="4645152" y="4370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230368" y="43891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3"/>
                </a:solidFill>
              </a:rPr>
              <a:t>Debtors register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663440" y="4901184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4748B"/>
                </a:solidFill>
              </a:rPr>
              <a:t>Outstanding-debtor lists and registry extracts on demand.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138160" y="4114800"/>
            <a:ext cx="33832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2EC"/>
            </a:solidFill>
            <a:prstDash val="solid"/>
          </a:ln>
          <a:effectLst>
            <a:outerShdw sx="100000" sy="100000" kx="0" ky="0" algn="bl" rotWithShape="0" blurRad="88900" dist="38100" dir="8100000">
              <a:srgbClr val="0F2A43">
                <a:alpha val="13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394192" y="4370832"/>
            <a:ext cx="457200" cy="457200"/>
          </a:xfrm>
          <a:prstGeom prst="ellipse">
            <a:avLst/>
          </a:prstGeom>
          <a:solidFill>
            <a:srgbClr val="2E6F95"/>
          </a:solidFill>
          <a:ln/>
        </p:spPr>
      </p:sp>
      <p:sp>
        <p:nvSpPr>
          <p:cNvPr id="31" name="Text 29"/>
          <p:cNvSpPr/>
          <p:nvPr/>
        </p:nvSpPr>
        <p:spPr>
          <a:xfrm>
            <a:off x="8394192" y="4370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979408" y="43891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3"/>
                </a:solidFill>
              </a:rPr>
              <a:t>Reports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412480" y="4901184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4748B"/>
                </a:solidFill>
              </a:rPr>
              <a:t>Aging, recovery, compliance and write-off reports — export to PDF / Excel.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Malta Tax &amp; Customs Administration · Debt Management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15568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9A2B"/>
                </a:solidFill>
              </a:rPr>
              <a:t>AUTOMATION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routine work the system runs for you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310896" cy="310896"/>
          </a:xfrm>
          <a:prstGeom prst="ellipse">
            <a:avLst/>
          </a:prstGeom>
          <a:solidFill>
            <a:srgbClr val="D99A2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1031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2A43"/>
                </a:solidFill>
              </a:rPr>
              <a:t>✓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43000" y="2066544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6EEF6"/>
                </a:solidFill>
              </a:rPr>
              <a:t>Identify new debtors from the taxpayer account — automatically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2788920"/>
            <a:ext cx="310896" cy="310896"/>
          </a:xfrm>
          <a:prstGeom prst="ellipse">
            <a:avLst/>
          </a:prstGeom>
          <a:solidFill>
            <a:srgbClr val="D99A2B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7889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2A43"/>
                </a:solidFill>
              </a:rPr>
              <a:t>✓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43000" y="2752344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6EEF6"/>
                </a:solidFill>
              </a:rPr>
              <a:t>Escalate ageing debt up the reminder → demand → final-demand ladder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3474720"/>
            <a:ext cx="310896" cy="310896"/>
          </a:xfrm>
          <a:prstGeom prst="ellipse">
            <a:avLst/>
          </a:prstGeom>
          <a:solidFill>
            <a:srgbClr val="D99A2B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4747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2A43"/>
                </a:solidFill>
              </a:rPr>
              <a:t>✓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43000" y="3438144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6EEF6"/>
                </a:solidFill>
              </a:rPr>
              <a:t>Trigger proportional enforcement when debt persists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160520"/>
            <a:ext cx="310896" cy="310896"/>
          </a:xfrm>
          <a:prstGeom prst="ellipse">
            <a:avLst/>
          </a:prstGeom>
          <a:solidFill>
            <a:srgbClr val="D99A2B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41605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2A43"/>
                </a:solidFill>
              </a:rPr>
              <a:t>✓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143000" y="4123944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6EEF6"/>
                </a:solidFill>
              </a:rPr>
              <a:t>Sweep instalment compliance, write-off eligibility and collection MI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863840" y="2011680"/>
            <a:ext cx="365760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2EC"/>
            </a:solidFill>
            <a:prstDash val="solid"/>
          </a:ln>
          <a:effectLst>
            <a:outerShdw sx="100000" sy="100000" kx="0" ky="0" algn="bl" rotWithShape="0" blurRad="88900" dist="38100" dir="8100000">
              <a:srgbClr val="0F2A43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863840" y="2011680"/>
            <a:ext cx="3657600" cy="109728"/>
          </a:xfrm>
          <a:prstGeom prst="rect">
            <a:avLst/>
          </a:prstGeom>
          <a:solidFill>
            <a:srgbClr val="D99A2B"/>
          </a:solidFill>
          <a:ln/>
        </p:spPr>
      </p:sp>
      <p:sp>
        <p:nvSpPr>
          <p:cNvPr id="18" name="Text 16"/>
          <p:cNvSpPr/>
          <p:nvPr/>
        </p:nvSpPr>
        <p:spPr>
          <a:xfrm>
            <a:off x="8092440" y="228600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0F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90%</a:t>
            </a:r>
            <a:endParaRPr lang="en-US" sz="6400" dirty="0"/>
          </a:p>
        </p:txBody>
      </p:sp>
      <p:sp>
        <p:nvSpPr>
          <p:cNvPr id="19" name="Text 17"/>
          <p:cNvSpPr/>
          <p:nvPr/>
        </p:nvSpPr>
        <p:spPr>
          <a:xfrm>
            <a:off x="8092440" y="32918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733"/>
                </a:solidFill>
              </a:rPr>
              <a:t>automation of routine debt-management steps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092440" y="388620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4748B"/>
                </a:solidFill>
              </a:rPr>
              <a:t>frees officers to focus on the cases that need judgement — the source of the 8–10 FTE saving.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8BA6"/>
                </a:solidFill>
              </a:rPr>
              <a:t>Malta Tax &amp; Customs Administration · Debt Management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15568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BA6"/>
                </a:solidFill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6F95"/>
                </a:solidFill>
              </a:rPr>
              <a:t>PROPORTIONAL ENFORCEMENT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Match the response to the size of the debt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108813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2EC"/>
            </a:solidFill>
            <a:prstDash val="solid"/>
          </a:ln>
          <a:effectLst>
            <a:outerShdw sx="100000" sy="100000" kx="0" ky="0" algn="bl" rotWithShape="0" blurRad="88900" dist="38100" dir="8100000">
              <a:srgbClr val="0F2A43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2194560"/>
            <a:ext cx="1554480" cy="1143000"/>
          </a:xfrm>
          <a:prstGeom prst="rect">
            <a:avLst/>
          </a:prstGeom>
          <a:solidFill>
            <a:srgbClr val="2F855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194560"/>
            <a:ext cx="1554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C1–C2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2468880" y="2395728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3"/>
                </a:solidFill>
              </a:rPr>
              <a:t>Smallest debts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577840" y="2359152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C2733"/>
                </a:solidFill>
              </a:rPr>
              <a:t>Automated reminders, passive collection &amp; refund interception — no manual effort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3493008"/>
            <a:ext cx="108813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2EC"/>
            </a:solidFill>
            <a:prstDash val="solid"/>
          </a:ln>
          <a:effectLst>
            <a:outerShdw sx="100000" sy="100000" kx="0" ky="0" algn="bl" rotWithShape="0" blurRad="88900" dist="38100" dir="8100000">
              <a:srgbClr val="0F2A43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3493008"/>
            <a:ext cx="1554480" cy="1143000"/>
          </a:xfrm>
          <a:prstGeom prst="rect">
            <a:avLst/>
          </a:prstGeom>
          <a:solidFill>
            <a:srgbClr val="2E6F95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493008"/>
            <a:ext cx="1554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C3–C4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2468880" y="3694176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3"/>
                </a:solidFill>
              </a:rPr>
              <a:t>Mid-range debts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577840" y="365760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C2733"/>
                </a:solidFill>
              </a:rPr>
              <a:t>Demand notices, instalment offers and first-line enforcement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4791456"/>
            <a:ext cx="108813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2EC"/>
            </a:solidFill>
            <a:prstDash val="solid"/>
          </a:ln>
          <a:effectLst>
            <a:outerShdw sx="100000" sy="100000" kx="0" ky="0" algn="bl" rotWithShape="0" blurRad="88900" dist="38100" dir="8100000">
              <a:srgbClr val="0F2A43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0080" y="4791456"/>
            <a:ext cx="1554480" cy="1143000"/>
          </a:xfrm>
          <a:prstGeom prst="rect">
            <a:avLst/>
          </a:prstGeom>
          <a:solidFill>
            <a:srgbClr val="D99A2B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791456"/>
            <a:ext cx="1554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C5–C6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2468880" y="4992624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3"/>
                </a:solidFill>
              </a:rPr>
              <a:t>Largest debts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577840" y="4956048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C2733"/>
                </a:solidFill>
              </a:rPr>
              <a:t>Full enforcement: garnishment, seizure, agents and publication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Malta Tax &amp; Customs Administration · Debt Management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15568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6F95"/>
                </a:solidFill>
              </a:rPr>
              <a:t>A BIT OF HOW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fast, built to last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33832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2EC"/>
            </a:solidFill>
            <a:prstDash val="solid"/>
          </a:ln>
          <a:effectLst>
            <a:outerShdw sx="100000" sy="100000" kx="0" ky="0" algn="bl" rotWithShape="0" blurRad="88900" dist="38100" dir="8100000">
              <a:srgbClr val="0F2A43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2148840"/>
            <a:ext cx="3383280" cy="91440"/>
          </a:xfrm>
          <a:prstGeom prst="rect">
            <a:avLst/>
          </a:prstGeom>
          <a:solidFill>
            <a:srgbClr val="2E6F95"/>
          </a:solidFill>
          <a:ln/>
        </p:spPr>
      </p:sp>
      <p:sp>
        <p:nvSpPr>
          <p:cNvPr id="6" name="Text 4"/>
          <p:cNvSpPr/>
          <p:nvPr/>
        </p:nvSpPr>
        <p:spPr>
          <a:xfrm>
            <a:off x="896112" y="2386584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F2A43"/>
                </a:solidFill>
              </a:rPr>
              <a:t>Reusable building block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96112" y="2990088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4748B"/>
                </a:solidFill>
              </a:rPr>
              <a:t>Debt cases are one type of case on a generic case-management core (CMBB) — the same foundation can power other tax-administration modules.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89120" y="2148840"/>
            <a:ext cx="33832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2EC"/>
            </a:solidFill>
            <a:prstDash val="solid"/>
          </a:ln>
          <a:effectLst>
            <a:outerShdw sx="100000" sy="100000" kx="0" ky="0" algn="bl" rotWithShape="0" blurRad="88900" dist="38100" dir="8100000">
              <a:srgbClr val="0F2A43">
                <a:alpha val="1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389120" y="2148840"/>
            <a:ext cx="3383280" cy="91440"/>
          </a:xfrm>
          <a:prstGeom prst="rect">
            <a:avLst/>
          </a:prstGeom>
          <a:solidFill>
            <a:srgbClr val="2E6F95"/>
          </a:solidFill>
          <a:ln/>
        </p:spPr>
      </p:sp>
      <p:sp>
        <p:nvSpPr>
          <p:cNvPr id="10" name="Text 8"/>
          <p:cNvSpPr/>
          <p:nvPr/>
        </p:nvSpPr>
        <p:spPr>
          <a:xfrm>
            <a:off x="4645152" y="2386584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F2A43"/>
                </a:solidFill>
              </a:rPr>
              <a:t>Low-code delivery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645152" y="2990088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4748B"/>
                </a:solidFill>
              </a:rPr>
              <a:t>Built on the Joget DX platform from versioned specifications — features are generated, deployed and tested repeatably.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138160" y="2148840"/>
            <a:ext cx="33832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2EC"/>
            </a:solidFill>
            <a:prstDash val="solid"/>
          </a:ln>
          <a:effectLst>
            <a:outerShdw sx="100000" sy="100000" kx="0" ky="0" algn="bl" rotWithShape="0" blurRad="88900" dist="38100" dir="8100000">
              <a:srgbClr val="0F2A43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138160" y="2148840"/>
            <a:ext cx="3383280" cy="91440"/>
          </a:xfrm>
          <a:prstGeom prst="rect">
            <a:avLst/>
          </a:prstGeom>
          <a:solidFill>
            <a:srgbClr val="2E6F95"/>
          </a:solidFill>
          <a:ln/>
        </p:spPr>
      </p:sp>
      <p:sp>
        <p:nvSpPr>
          <p:cNvPr id="14" name="Text 12"/>
          <p:cNvSpPr/>
          <p:nvPr/>
        </p:nvSpPr>
        <p:spPr>
          <a:xfrm>
            <a:off x="8394192" y="2386584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F2A43"/>
                </a:solidFill>
              </a:rPr>
              <a:t>Reads live taxpayer data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94192" y="2990088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4748B"/>
                </a:solidFill>
              </a:rPr>
              <a:t>Consumes the consolidated Single Taxpayer Account views (ORS / ClickHouse) and SAS-VIYA risk scores; it never duplicates accounting.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4206240"/>
            <a:ext cx="33832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2EC"/>
            </a:solidFill>
            <a:prstDash val="solid"/>
          </a:ln>
          <a:effectLst>
            <a:outerShdw sx="100000" sy="100000" kx="0" ky="0" algn="bl" rotWithShape="0" blurRad="88900" dist="38100" dir="8100000">
              <a:srgbClr val="0F2A43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" y="4206240"/>
            <a:ext cx="3383280" cy="91440"/>
          </a:xfrm>
          <a:prstGeom prst="rect">
            <a:avLst/>
          </a:prstGeom>
          <a:solidFill>
            <a:srgbClr val="2E6F95"/>
          </a:solidFill>
          <a:ln/>
        </p:spPr>
      </p:sp>
      <p:sp>
        <p:nvSpPr>
          <p:cNvPr id="18" name="Text 16"/>
          <p:cNvSpPr/>
          <p:nvPr/>
        </p:nvSpPr>
        <p:spPr>
          <a:xfrm>
            <a:off x="896112" y="4443984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F2A43"/>
                </a:solidFill>
              </a:rPr>
              <a:t>Configurable, not hard-coded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96112" y="5047488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4748B"/>
                </a:solidFill>
              </a:rPr>
              <a:t>Rules, rates, fee schedules and notice templates are reference data — business can adjust them without a release.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389120" y="4206240"/>
            <a:ext cx="33832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2EC"/>
            </a:solidFill>
            <a:prstDash val="solid"/>
          </a:ln>
          <a:effectLst>
            <a:outerShdw sx="100000" sy="100000" kx="0" ky="0" algn="bl" rotWithShape="0" blurRad="88900" dist="38100" dir="8100000">
              <a:srgbClr val="0F2A43">
                <a:alpha val="13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389120" y="4206240"/>
            <a:ext cx="3383280" cy="91440"/>
          </a:xfrm>
          <a:prstGeom prst="rect">
            <a:avLst/>
          </a:prstGeom>
          <a:solidFill>
            <a:srgbClr val="2E6F95"/>
          </a:solidFill>
          <a:ln/>
        </p:spPr>
      </p:sp>
      <p:sp>
        <p:nvSpPr>
          <p:cNvPr id="22" name="Text 20"/>
          <p:cNvSpPr/>
          <p:nvPr/>
        </p:nvSpPr>
        <p:spPr>
          <a:xfrm>
            <a:off x="4645152" y="4443984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F2A43"/>
                </a:solidFill>
              </a:rPr>
              <a:t>ITCAS-aligned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645152" y="5047488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4748B"/>
                </a:solidFill>
              </a:rPr>
              <a:t>Clean separation of data, logic and presentation so the solution folds into ITCAS at go-live — the interim investment carries forward.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138160" y="4206240"/>
            <a:ext cx="33832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2EC"/>
            </a:solidFill>
            <a:prstDash val="solid"/>
          </a:ln>
          <a:effectLst>
            <a:outerShdw sx="100000" sy="100000" kx="0" ky="0" algn="bl" rotWithShape="0" blurRad="88900" dist="38100" dir="8100000">
              <a:srgbClr val="0F2A43">
                <a:alpha val="13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138160" y="4206240"/>
            <a:ext cx="3383280" cy="91440"/>
          </a:xfrm>
          <a:prstGeom prst="rect">
            <a:avLst/>
          </a:prstGeom>
          <a:solidFill>
            <a:srgbClr val="2E6F95"/>
          </a:solidFill>
          <a:ln/>
        </p:spPr>
      </p:sp>
      <p:sp>
        <p:nvSpPr>
          <p:cNvPr id="26" name="Text 24"/>
          <p:cNvSpPr/>
          <p:nvPr/>
        </p:nvSpPr>
        <p:spPr>
          <a:xfrm>
            <a:off x="8394192" y="4443984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F2A43"/>
                </a:solidFill>
              </a:rPr>
              <a:t>Tested by design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394192" y="5047488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4748B"/>
                </a:solidFill>
              </a:rPr>
              <a:t>Every feature ships with automated acceptance tests; the full suite runs green.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Malta Tax &amp; Customs Administration · Debt Management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15568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6F95"/>
                </a:solidFill>
              </a:rPr>
              <a:t>WHERE WE ARE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Built, tested, ready to demonstrate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251460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2EC"/>
            </a:solidFill>
            <a:prstDash val="solid"/>
          </a:ln>
          <a:effectLst>
            <a:outerShdw sx="100000" sy="100000" kx="0" ky="0" algn="bl" rotWithShape="0" blurRad="88900" dist="38100" dir="8100000">
              <a:srgbClr val="0F2A43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2194560"/>
            <a:ext cx="2514600" cy="109728"/>
          </a:xfrm>
          <a:prstGeom prst="rect">
            <a:avLst/>
          </a:prstGeom>
          <a:solidFill>
            <a:srgbClr val="D99A2B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69748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0F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868680" y="3703320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C2733"/>
                </a:solidFill>
              </a:rPr>
              <a:t>capabilities delivered (identification → write-off)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429000" y="2194560"/>
            <a:ext cx="251460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2EC"/>
            </a:solidFill>
            <a:prstDash val="solid"/>
          </a:ln>
          <a:effectLst>
            <a:outerShdw sx="100000" sy="100000" kx="0" ky="0" algn="bl" rotWithShape="0" blurRad="88900" dist="38100" dir="8100000">
              <a:srgbClr val="0F2A43">
                <a:alpha val="1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429000" y="2194560"/>
            <a:ext cx="2514600" cy="109728"/>
          </a:xfrm>
          <a:prstGeom prst="rect">
            <a:avLst/>
          </a:prstGeom>
          <a:solidFill>
            <a:srgbClr val="D99A2B"/>
          </a:solidFill>
          <a:ln/>
        </p:spPr>
      </p:sp>
      <p:sp>
        <p:nvSpPr>
          <p:cNvPr id="10" name="Text 8"/>
          <p:cNvSpPr/>
          <p:nvPr/>
        </p:nvSpPr>
        <p:spPr>
          <a:xfrm>
            <a:off x="3566160" y="269748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0F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58</a:t>
            </a:r>
            <a:endParaRPr lang="en-US" sz="4600" dirty="0"/>
          </a:p>
        </p:txBody>
      </p:sp>
      <p:sp>
        <p:nvSpPr>
          <p:cNvPr id="11" name="Text 9"/>
          <p:cNvSpPr/>
          <p:nvPr/>
        </p:nvSpPr>
        <p:spPr>
          <a:xfrm>
            <a:off x="3657600" y="3703320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C2733"/>
                </a:solidFill>
              </a:rPr>
              <a:t>debt-management requirements realised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217920" y="2194560"/>
            <a:ext cx="251460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2EC"/>
            </a:solidFill>
            <a:prstDash val="solid"/>
          </a:ln>
          <a:effectLst>
            <a:outerShdw sx="100000" sy="100000" kx="0" ky="0" algn="bl" rotWithShape="0" blurRad="88900" dist="38100" dir="8100000">
              <a:srgbClr val="0F2A43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17920" y="2194560"/>
            <a:ext cx="2514600" cy="109728"/>
          </a:xfrm>
          <a:prstGeom prst="rect">
            <a:avLst/>
          </a:prstGeom>
          <a:solidFill>
            <a:srgbClr val="D99A2B"/>
          </a:solidFill>
          <a:ln/>
        </p:spPr>
      </p:sp>
      <p:sp>
        <p:nvSpPr>
          <p:cNvPr id="14" name="Text 12"/>
          <p:cNvSpPr/>
          <p:nvPr/>
        </p:nvSpPr>
        <p:spPr>
          <a:xfrm>
            <a:off x="6355080" y="269748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0F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4600" dirty="0"/>
          </a:p>
        </p:txBody>
      </p:sp>
      <p:sp>
        <p:nvSpPr>
          <p:cNvPr id="15" name="Text 13"/>
          <p:cNvSpPr/>
          <p:nvPr/>
        </p:nvSpPr>
        <p:spPr>
          <a:xfrm>
            <a:off x="6446520" y="3703320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C2733"/>
                </a:solidFill>
              </a:rPr>
              <a:t>management reports + 12 arrears KPIs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006840" y="2194560"/>
            <a:ext cx="251460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2EC"/>
            </a:solidFill>
            <a:prstDash val="solid"/>
          </a:ln>
          <a:effectLst>
            <a:outerShdw sx="100000" sy="100000" kx="0" ky="0" algn="bl" rotWithShape="0" blurRad="88900" dist="38100" dir="8100000">
              <a:srgbClr val="0F2A43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006840" y="2194560"/>
            <a:ext cx="2514600" cy="109728"/>
          </a:xfrm>
          <a:prstGeom prst="rect">
            <a:avLst/>
          </a:prstGeom>
          <a:solidFill>
            <a:srgbClr val="D99A2B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0" y="269748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0F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4600" dirty="0"/>
          </a:p>
        </p:txBody>
      </p:sp>
      <p:sp>
        <p:nvSpPr>
          <p:cNvPr id="19" name="Text 17"/>
          <p:cNvSpPr/>
          <p:nvPr/>
        </p:nvSpPr>
        <p:spPr>
          <a:xfrm>
            <a:off x="9235440" y="3703320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C2733"/>
                </a:solidFill>
              </a:rPr>
              <a:t>automated acceptance suite passing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40080" y="50292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2E6F95"/>
                </a:solidFill>
              </a:rPr>
              <a:t>The debt-management module is complete end-to-end and demonstrable on the live environment today.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Malta Tax &amp; Customs Administration · Debt Management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15568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9A2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0116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Built. Tested. Ready to pilot.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640080" y="31089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99A2B"/>
                </a:solidFill>
              </a:rPr>
              <a:t>Next:  pilot with debt-management officers  ›  phased go-live  ›  fold into ITCAS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40080" y="384048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CADCFC"/>
                </a:solidFill>
              </a:rPr>
              <a:t>Immediate operational value in tax-debt recovery — delivered on a foundation that carries forward into the long-term platform.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6217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A6C6"/>
                </a:solidFill>
              </a:rPr>
              <a:t>Malta Tax &amp; Customs Administration · Digital Transformation Programme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MTCA Debt Management — Solution Overview</dc:title>
  <dc:subject>PptxGenJS Presentation</dc:subject>
  <dc:creator>MTCA Digital Transformation</dc:creator>
  <cp:lastModifiedBy>MTCA Digital Transformation</cp:lastModifiedBy>
  <cp:revision>1</cp:revision>
  <dcterms:created xsi:type="dcterms:W3CDTF">2026-06-15T20:52:03Z</dcterms:created>
  <dcterms:modified xsi:type="dcterms:W3CDTF">2026-06-15T20:52:03Z</dcterms:modified>
</cp:coreProperties>
</file>